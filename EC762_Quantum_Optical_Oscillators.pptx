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0" r:id="rId3"/>
    <p:sldId id="272" r:id="rId4"/>
    <p:sldId id="271" r:id="rId5"/>
    <p:sldId id="261" r:id="rId6"/>
    <p:sldId id="262" r:id="rId7"/>
    <p:sldId id="280" r:id="rId8"/>
    <p:sldId id="273" r:id="rId9"/>
    <p:sldId id="282" r:id="rId10"/>
    <p:sldId id="265" r:id="rId11"/>
    <p:sldId id="277" r:id="rId12"/>
    <p:sldId id="284" r:id="rId13"/>
    <p:sldId id="278" r:id="rId14"/>
    <p:sldId id="279" r:id="rId15"/>
    <p:sldId id="283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350"/>
    <p:restoredTop sz="94613"/>
  </p:normalViewPr>
  <p:slideViewPr>
    <p:cSldViewPr snapToGrid="0">
      <p:cViewPr>
        <p:scale>
          <a:sx n="91" d="100"/>
          <a:sy n="91" d="100"/>
        </p:scale>
        <p:origin x="224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C68628-E43A-7144-A13A-654EBC7F255C}" type="datetimeFigureOut">
              <a:rPr lang="en-US" smtClean="0"/>
              <a:t>12/7/25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FEDD94-0223-8E44-A19E-793F283D3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680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16528-2FC8-DAAB-C287-5836AC6E7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7EE3E6-9CC4-3B51-99CB-8B0AB04F28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596148-205F-C6A5-239B-B9BB5ADC4B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2566BC-813A-BB95-BCED-DC213FBF2D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EDD94-0223-8E44-A19E-793F283D3E9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8199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EDD94-0223-8E44-A19E-793F283D3E9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2926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Seed-more pure, clean, narrow linewidth spectrum </a:t>
            </a:r>
          </a:p>
          <a:p>
            <a:r>
              <a:rPr lang="en-US" dirty="0"/>
              <a:t>ULE-no expansion through temp change, great for stability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EDD94-0223-8E44-A19E-793F283D3E9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235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Ramsey measures phase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EDD94-0223-8E44-A19E-793F283D3E9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829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A1EF1-CF94-54F0-3874-C840D80AD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7F002-739C-A5F2-B107-42D37469A0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AE1D6-64DA-0172-8C92-C5EF7641B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DCCC0-2BC6-1640-B5B7-C875CFB5974D}" type="datetime1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4BD1D-FEE9-F743-9152-295DB71FF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0A380-F028-E568-2886-7473D5129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C3F52-F24C-494B-8A91-1BC5DDE36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802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EA3FF-2435-7EC2-AC36-9F8AFD4C0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F9F02-3763-5898-AF9D-E1436743F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537FA-7CA2-41C0-DA44-11F45BFD6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56DA7-2417-BC4B-AA85-212A5FA1AB39}" type="datetime1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BDE1A-BBBA-86DC-4E91-40AC02C8A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7E9F8-E9C8-349D-8BE0-B01DC4693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C3F52-F24C-494B-8A91-1BC5DDE36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095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B0514-12EB-571A-10DE-03B97AFBB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72C2E4-95FF-7547-0F64-7657F321B9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C9766-377F-D512-26E7-CA79BDC7D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A768A-AB56-0843-A7FB-37B3D2026E9D}" type="datetime1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BA82A-BE46-2A5F-4B78-00753C7E3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EC64C-D174-4F25-827E-6CF1E20AD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C3F52-F24C-494B-8A91-1BC5DDE36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972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BEBFF-0DC1-1627-9D9D-458B86DE6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1D419-391C-BD93-DE92-505E96D6E4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6C6D05-4815-D256-D6BD-2FC967016B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4C1BCA-17EF-1351-4DCF-6EC74EE9F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C5B61-2C47-D741-A01A-8324AD0F4AF7}" type="datetime1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7F55F4-314F-BA3C-C366-F587F8A2D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52678-CC2E-4BB8-A3EB-4E70EFCAF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C3F52-F24C-494B-8A91-1BC5DDE36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652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7B741-6940-3751-15FA-D09465C6C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25856C-C6ED-9303-B1E5-E076B1182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4235EE-9D54-0276-DC2E-F13D9718F7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54C7DF-7096-6A03-239A-EE4C0F283D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5FD3EF-FBD1-8499-FE16-B1C4D7E587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4D9B50-9922-7EE5-3C4B-71AD5C5C4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46815-7299-3349-A30F-49204799B451}" type="datetime1">
              <a:rPr lang="en-US" smtClean="0"/>
              <a:t>12/7/25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80737A-7C33-B08E-75D1-42AFBA905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A3C66F-0BE6-61AF-EC03-4954294BF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C3F52-F24C-494B-8A91-1BC5DDE36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501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B723B-AA68-6B86-A801-BACF0461C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8635B1-67B2-2F03-165D-642F47FCF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15958-57AE-0E43-8556-2B96E19D83B4}" type="datetime1">
              <a:rPr lang="en-US" smtClean="0"/>
              <a:t>12/7/25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8E9C7F-F250-036B-60E2-A90A6A38C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30682B-D492-4283-C132-206CF5328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C3F52-F24C-494B-8A91-1BC5DDE36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339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648300-BE7A-0119-9B95-5452C10AA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A7B97-6B9D-3541-AD90-866FC63F97CF}" type="datetime1">
              <a:rPr lang="en-US" smtClean="0"/>
              <a:t>12/7/25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FA28CF-8541-AFEF-CEFD-ACC631AEF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901903-B274-77D9-7392-16D87CA88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C3F52-F24C-494B-8A91-1BC5DDE36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17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550AC-3CA7-38BB-F43C-8671686BC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DF17B-A552-4B55-BA86-978D3B1E5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24BC88-1764-6EDB-350F-DEBD9CE88C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094372-5D0A-59DE-1CC5-9E1E25439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A3C8B-A6BB-1E41-95DC-364001F70F79}" type="datetime1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564D8E-7852-9BD5-CAFE-8E16F50A3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EB3C02-48F4-E726-282F-C7AE9C7B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C3F52-F24C-494B-8A91-1BC5DDE36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054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F9510-7807-13CD-6A1D-0D9ED17D1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CBCA48-DF5D-E92F-99D0-A8FAAAEDD1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BC3537-D9B4-FF70-6854-8B7F81FA70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041747-EAA4-195C-70E2-4F5D1ACC5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DC388-E4C0-9145-9B53-E8956E89F184}" type="datetime1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845EA1-D3B3-CEA6-F29F-FCB438931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427208-65B9-4396-497B-92A89FBF2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C3F52-F24C-494B-8A91-1BC5DDE36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716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71BBD-2FE1-B0CC-954F-523053CEF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674AE-8261-F423-E08E-A2C730DEA2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CA878-EB88-909B-8FE1-6F0BFC4BF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3A8F0-3B45-A540-978F-94ED62952BF7}" type="datetime1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42B14-8826-1F56-FD08-8A04178AF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80DD6-64C3-4C59-B4D7-2E70CB13B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C3F52-F24C-494B-8A91-1BC5DDE36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258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DB65E6-2DB8-14AE-19F2-AF34D8A166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44E285-81CE-3F5E-0259-8EB1D697F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0BF94-C100-5824-64DB-3B2743C72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827BC-B7B4-054D-9D22-5271895896B5}" type="datetime1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82D4E-B103-B368-C24C-AC155A72C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A5853-2C69-5960-49E5-78974A8D6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C3F52-F24C-494B-8A91-1BC5DDE36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734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CDB756-96A1-BF54-B2E8-09D349E6C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3B2A53-DB42-C112-9018-95A0F587C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77814-CBC3-E930-1800-2228A24DAD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6E1ABA-09A4-2740-A5E1-6365C7786019}" type="datetime1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054B6C-D185-3D14-0EB6-45B182683E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AA529-6370-5576-09C9-3EC80FC4FF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9C3F52-F24C-494B-8A91-1BC5DDE36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976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lemusc@bu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indico.cern.ch/event/315947/sessions/61194/attachments/606588/834751/Paul_traps_until_page_79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quantumoptics.at/images/publications/dissertation/chwalla_diss.pdf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506.11810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spie.org/news/photonics-focus/marapr-2023/inventing-precision-atomic-clocks" TargetMode="External"/><Relationship Id="rId3" Type="http://schemas.openxmlformats.org/officeDocument/2006/relationships/hyperlink" Target="https://ethw.org/Milestones:First_Atomic_Clock,_1948" TargetMode="External"/><Relationship Id="rId7" Type="http://schemas.openxmlformats.org/officeDocument/2006/relationships/hyperlink" Target="https://tf.nist.gov/general/pdf/2585.pdf" TargetMode="External"/><Relationship Id="rId2" Type="http://schemas.openxmlformats.org/officeDocument/2006/relationships/hyperlink" Target="https://ethw.org/w/images/a/a1/US_Patent_2699503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ist.gov/atomic-clocks/how-atomic-clocks-work/optical-clocks-future-time" TargetMode="External"/><Relationship Id="rId11" Type="http://schemas.openxmlformats.org/officeDocument/2006/relationships/hyperlink" Target="https://ethw.org/w/images/c/c9/Lyons_Scientific_American_1957.pdf" TargetMode="External"/><Relationship Id="rId5" Type="http://schemas.openxmlformats.org/officeDocument/2006/relationships/hyperlink" Target="https://www.nist.gov/pml/time-and-frequency-division/time-realization/cesium-fountain-atomic-clocks" TargetMode="External"/><Relationship Id="rId10" Type="http://schemas.openxmlformats.org/officeDocument/2006/relationships/hyperlink" Target="https://ieeemilestones.ethw.org/w/images/5/57/Lyons_American_Scholar_1950.pdf" TargetMode="External"/><Relationship Id="rId4" Type="http://schemas.openxmlformats.org/officeDocument/2006/relationships/hyperlink" Target="https://www.cabinet.ox.ac.uk/astronomical-clock-su-song-1020-1101" TargetMode="External"/><Relationship Id="rId9" Type="http://schemas.openxmlformats.org/officeDocument/2006/relationships/hyperlink" Target="https://www.nist.gov/si-redefinition/second-pas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7" name="Rectangle 1036">
            <a:extLst>
              <a:ext uri="{FF2B5EF4-FFF2-40B4-BE49-F238E27FC236}">
                <a16:creationId xmlns:a16="http://schemas.microsoft.com/office/drawing/2014/main" id="{337940BB-FBC4-492E-BD92-3B7B914D0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C58D23-1F59-F9E9-9E28-BA6BA980B8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3988" y="320041"/>
            <a:ext cx="6707084" cy="3892668"/>
          </a:xfrm>
        </p:spPr>
        <p:txBody>
          <a:bodyPr>
            <a:normAutofit/>
          </a:bodyPr>
          <a:lstStyle/>
          <a:p>
            <a:pPr algn="l"/>
            <a:r>
              <a:rPr lang="en-US" sz="6600" dirty="0"/>
              <a:t>Entanglement-enhanced optical ion clock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73E95F-FFDD-53C9-A67A-F07704AED1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53699" y="4631161"/>
            <a:ext cx="6707366" cy="1569486"/>
          </a:xfrm>
        </p:spPr>
        <p:txBody>
          <a:bodyPr>
            <a:noAutofit/>
          </a:bodyPr>
          <a:lstStyle/>
          <a:p>
            <a:pPr algn="l"/>
            <a:r>
              <a:rPr lang="en-US" sz="1400" dirty="0"/>
              <a:t>EC762 Quantum Optics</a:t>
            </a:r>
          </a:p>
          <a:p>
            <a:pPr algn="l"/>
            <a:r>
              <a:rPr lang="en-US" sz="1400" dirty="0"/>
              <a:t>Department of Electrical and Computer Engineering</a:t>
            </a:r>
          </a:p>
          <a:p>
            <a:pPr algn="l"/>
            <a:endParaRPr lang="en-US" sz="1400" dirty="0"/>
          </a:p>
          <a:p>
            <a:pPr algn="l"/>
            <a:r>
              <a:rPr lang="en-US" sz="1400" dirty="0"/>
              <a:t>Christopher Lemus</a:t>
            </a:r>
          </a:p>
          <a:p>
            <a:pPr algn="l"/>
            <a:r>
              <a:rPr lang="en-US" sz="1400" dirty="0">
                <a:hlinkClick r:id="rId2"/>
              </a:rPr>
              <a:t>lemusc@bu.edu</a:t>
            </a:r>
            <a:r>
              <a:rPr lang="en-US" sz="1400" dirty="0"/>
              <a:t> </a:t>
            </a:r>
          </a:p>
          <a:p>
            <a:pPr algn="l"/>
            <a:r>
              <a:rPr lang="en-US" sz="1400" dirty="0"/>
              <a:t>December 8</a:t>
            </a:r>
            <a:r>
              <a:rPr lang="en-US" sz="1400" baseline="30000" dirty="0"/>
              <a:t>th  </a:t>
            </a:r>
            <a:r>
              <a:rPr lang="en-US" sz="1400" dirty="0"/>
              <a:t>2025</a:t>
            </a:r>
          </a:p>
        </p:txBody>
      </p:sp>
      <p:pic>
        <p:nvPicPr>
          <p:cNvPr id="1026" name="Picture 2" descr="Boston University - Credly">
            <a:extLst>
              <a:ext uri="{FF2B5EF4-FFF2-40B4-BE49-F238E27FC236}">
                <a16:creationId xmlns:a16="http://schemas.microsoft.com/office/drawing/2014/main" id="{3464CAED-7778-AA1E-DB22-1E23655746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0040" y="1226248"/>
            <a:ext cx="4087368" cy="4087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8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3987" y="4409267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A4A37A-9ADB-9D97-7EEE-C986A76B5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C3F52-F24C-494B-8A91-1BC5DDE36867}" type="slidenum">
              <a:rPr lang="en-US" smtClean="0"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627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93D21-020D-48FD-B2C5-FDFE0FB2E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37EF1-36AC-7494-7DE8-341C29AF5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3026"/>
          </a:xfrm>
        </p:spPr>
        <p:txBody>
          <a:bodyPr>
            <a:normAutofit fontScale="90000"/>
          </a:bodyPr>
          <a:lstStyle/>
          <a:p>
            <a:r>
              <a:rPr lang="en-US" dirty="0"/>
              <a:t>Introduction-</a:t>
            </a:r>
            <a:r>
              <a:rPr lang="en-US" i="1" dirty="0"/>
              <a:t>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A1989-53C7-CF6B-B990-2569D6DFF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33153"/>
            <a:ext cx="10149783" cy="5143810"/>
          </a:xfrm>
        </p:spPr>
        <p:txBody>
          <a:bodyPr>
            <a:normAutofit fontScale="77500" lnSpcReduction="20000"/>
          </a:bodyPr>
          <a:lstStyle/>
          <a:p>
            <a:pPr lvl="1">
              <a:buFont typeface="Wingdings" pitchFamily="2" charset="2"/>
              <a:buChar char="§"/>
            </a:pPr>
            <a:r>
              <a:rPr lang="en-US" dirty="0"/>
              <a:t>Progression from Sun -&gt; Water -&gt; Mechanical -&gt; Quartz</a:t>
            </a:r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 lvl="1">
              <a:buFont typeface="Wingdings" pitchFamily="2" charset="2"/>
              <a:buChar char="§"/>
            </a:pPr>
            <a:r>
              <a:rPr lang="en-US" dirty="0"/>
              <a:t>James Clerk Maxwell and William Kelvin </a:t>
            </a:r>
          </a:p>
          <a:p>
            <a:pPr lvl="2">
              <a:buFont typeface="Wingdings" pitchFamily="2" charset="2"/>
              <a:buChar char="§"/>
            </a:pPr>
            <a:r>
              <a:rPr lang="en-US" dirty="0"/>
              <a:t>Proposed the concept for matter to be used as time standard 1879 published in </a:t>
            </a:r>
            <a:r>
              <a:rPr lang="en-US" i="1" dirty="0"/>
              <a:t>Elements of Natural Philosophy</a:t>
            </a:r>
          </a:p>
          <a:p>
            <a:pPr lvl="2">
              <a:buFont typeface="Wingdings" pitchFamily="2" charset="2"/>
              <a:buChar char="§"/>
            </a:pPr>
            <a:endParaRPr lang="en-US" i="1" dirty="0"/>
          </a:p>
          <a:p>
            <a:pPr lvl="1">
              <a:buFont typeface="Wingdings" pitchFamily="2" charset="2"/>
              <a:buChar char="§"/>
            </a:pPr>
            <a:r>
              <a:rPr lang="en-US" dirty="0"/>
              <a:t>Dr. Harold Lyons (1913 – 1998) </a:t>
            </a:r>
          </a:p>
          <a:p>
            <a:pPr lvl="2">
              <a:buFont typeface="Wingdings" pitchFamily="2" charset="2"/>
              <a:buChar char="§"/>
            </a:pPr>
            <a:r>
              <a:rPr lang="en-US" dirty="0"/>
              <a:t>First Ammonia-based atomic clock under National Bureau of Standards 1948</a:t>
            </a:r>
          </a:p>
          <a:p>
            <a:pPr lvl="2">
              <a:buFont typeface="Wingdings" pitchFamily="2" charset="2"/>
              <a:buChar char="§"/>
            </a:pPr>
            <a:r>
              <a:rPr lang="en-US" dirty="0"/>
              <a:t>Frequency uncertainty: ~1 part in 10^8</a:t>
            </a:r>
            <a:r>
              <a:rPr lang="en-US" baseline="-25000" dirty="0"/>
              <a:t> [5] </a:t>
            </a:r>
          </a:p>
          <a:p>
            <a:pPr lvl="2">
              <a:buFont typeface="Wingdings" pitchFamily="2" charset="2"/>
              <a:buChar char="§"/>
            </a:pPr>
            <a:r>
              <a:rPr lang="en-US" dirty="0"/>
              <a:t>~ 1 second in 3 years</a:t>
            </a:r>
          </a:p>
          <a:p>
            <a:pPr lvl="2">
              <a:buFont typeface="Wingdings" pitchFamily="2" charset="2"/>
              <a:buChar char="§"/>
            </a:pPr>
            <a:endParaRPr lang="en-US" dirty="0"/>
          </a:p>
          <a:p>
            <a:pPr lvl="1">
              <a:buFont typeface="Wingdings" pitchFamily="2" charset="2"/>
              <a:buChar char="§"/>
            </a:pPr>
            <a:r>
              <a:rPr lang="en-US" dirty="0"/>
              <a:t>Physicist Louis Essen (1908 – 1997) </a:t>
            </a:r>
          </a:p>
          <a:p>
            <a:pPr lvl="2">
              <a:buFont typeface="Wingdings" pitchFamily="2" charset="2"/>
              <a:buChar char="§"/>
            </a:pPr>
            <a:r>
              <a:rPr lang="en-US" dirty="0"/>
              <a:t>First Cesium atomic clock (1955)</a:t>
            </a:r>
            <a:r>
              <a:rPr lang="en-US" baseline="-25000" dirty="0"/>
              <a:t>[2] </a:t>
            </a:r>
            <a:r>
              <a:rPr lang="en-US" dirty="0"/>
              <a:t> leveraging Isidor Rabi’s suggestion for Cesium</a:t>
            </a:r>
          </a:p>
          <a:p>
            <a:pPr lvl="2">
              <a:buFont typeface="Wingdings" pitchFamily="2" charset="2"/>
              <a:buChar char="§"/>
            </a:pPr>
            <a:r>
              <a:rPr lang="en-US" dirty="0"/>
              <a:t>Frequency uncertainty: ~1 part in 10^10 </a:t>
            </a:r>
            <a:r>
              <a:rPr lang="en-US" baseline="-25000" dirty="0"/>
              <a:t>[5]</a:t>
            </a:r>
          </a:p>
          <a:p>
            <a:pPr lvl="2">
              <a:buFont typeface="Wingdings" pitchFamily="2" charset="2"/>
              <a:buChar char="§"/>
            </a:pPr>
            <a:r>
              <a:rPr lang="en-US" dirty="0"/>
              <a:t>~ 1 second in 300 years</a:t>
            </a:r>
          </a:p>
          <a:p>
            <a:pPr lvl="2">
              <a:buFont typeface="Wingdings" pitchFamily="2" charset="2"/>
              <a:buChar char="§"/>
            </a:pPr>
            <a:endParaRPr lang="en-US" baseline="-25000" dirty="0"/>
          </a:p>
          <a:p>
            <a:pPr lvl="1">
              <a:buFont typeface="Wingdings" pitchFamily="2" charset="2"/>
              <a:buChar char="§"/>
            </a:pPr>
            <a:r>
              <a:rPr lang="en-US" dirty="0"/>
              <a:t>Currently NIST F4 is the most accurate </a:t>
            </a:r>
            <a:r>
              <a:rPr lang="en-US" u="sng" dirty="0"/>
              <a:t>Standard</a:t>
            </a:r>
          </a:p>
          <a:p>
            <a:pPr lvl="2">
              <a:buFont typeface="Wingdings" pitchFamily="2" charset="2"/>
              <a:buChar char="§"/>
            </a:pPr>
            <a:r>
              <a:rPr lang="en-US" dirty="0"/>
              <a:t>Frequency uncertainty: ~2 parts in 10^16 </a:t>
            </a:r>
          </a:p>
          <a:p>
            <a:pPr lvl="2">
              <a:buFont typeface="Wingdings" pitchFamily="2" charset="2"/>
              <a:buChar char="§"/>
            </a:pPr>
            <a:r>
              <a:rPr lang="en-US" dirty="0"/>
              <a:t>~ 1 second in 140 million years</a:t>
            </a:r>
          </a:p>
          <a:p>
            <a:pPr lvl="2">
              <a:buFont typeface="Wingdings" pitchFamily="2" charset="2"/>
              <a:buChar char="§"/>
            </a:pPr>
            <a:endParaRPr lang="en-US" dirty="0"/>
          </a:p>
          <a:p>
            <a:pPr lvl="1">
              <a:buFont typeface="Wingdings" pitchFamily="2" charset="2"/>
              <a:buChar char="§"/>
            </a:pPr>
            <a:r>
              <a:rPr lang="en-US" dirty="0"/>
              <a:t>What about Optical ?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0DC312F0-9E3E-6D9E-DDF2-4A4C85BAD2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8573" y="3699091"/>
            <a:ext cx="2042217" cy="2572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03C150F-EF1A-6A59-FC5C-4DBEED925259}"/>
              </a:ext>
            </a:extLst>
          </p:cNvPr>
          <p:cNvSpPr txBox="1"/>
          <p:nvPr/>
        </p:nvSpPr>
        <p:spPr>
          <a:xfrm>
            <a:off x="9330874" y="6271964"/>
            <a:ext cx="34576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Appendix B: First Atomic clock NBS-1 (Ammonia)</a:t>
            </a:r>
          </a:p>
          <a:p>
            <a:pPr algn="ctr"/>
            <a:endParaRPr lang="en-US" sz="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F2EA82-5EED-6467-A527-5422F09056D4}"/>
                  </a:ext>
                </a:extLst>
              </p:cNvPr>
              <p:cNvSpPr txBox="1"/>
              <p:nvPr/>
            </p:nvSpPr>
            <p:spPr>
              <a:xfrm>
                <a:off x="5221812" y="3048745"/>
                <a:ext cx="1296060" cy="5252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den>
                    </m:f>
                  </m:oMath>
                </a14:m>
                <a:r>
                  <a:rPr lang="en-US" dirty="0"/>
                  <a:t>  x t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F2EA82-5EED-6467-A527-5422F0905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1812" y="3048745"/>
                <a:ext cx="1296060" cy="525272"/>
              </a:xfrm>
              <a:prstGeom prst="rect">
                <a:avLst/>
              </a:prstGeom>
              <a:blipFill>
                <a:blip r:embed="rId3"/>
                <a:stretch>
                  <a:fillRect r="-2913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6" name="Picture 8" descr="Image for Astronomical Clock of Su Song ">
            <a:extLst>
              <a:ext uri="{FF2B5EF4-FFF2-40B4-BE49-F238E27FC236}">
                <a16:creationId xmlns:a16="http://schemas.microsoft.com/office/drawing/2014/main" id="{BEBA1B1E-827E-C8CF-63FD-1B5DFE310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8573" y="327094"/>
            <a:ext cx="1854603" cy="2793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2C14578-465C-466E-E9D0-707B1DB08A86}"/>
              </a:ext>
            </a:extLst>
          </p:cNvPr>
          <p:cNvSpPr txBox="1"/>
          <p:nvPr/>
        </p:nvSpPr>
        <p:spPr>
          <a:xfrm>
            <a:off x="9330873" y="3191260"/>
            <a:ext cx="34576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Appendix B: Su Sung water clock 11-12 century</a:t>
            </a:r>
          </a:p>
          <a:p>
            <a:pPr algn="ctr"/>
            <a:endParaRPr lang="en-US" sz="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C53081-226B-A27D-0056-B1959F56F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C3F52-F24C-494B-8A91-1BC5DDE3686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470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F27D5-F66A-C074-1394-548F00490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23EB2-6EDA-3D73-C415-22BF45D6B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9521"/>
            <a:ext cx="10515600" cy="763031"/>
          </a:xfrm>
        </p:spPr>
        <p:txBody>
          <a:bodyPr>
            <a:normAutofit/>
          </a:bodyPr>
          <a:lstStyle/>
          <a:p>
            <a:r>
              <a:rPr lang="en-US" sz="4000" dirty="0"/>
              <a:t>Introduction-purpose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6B3F0A-ACFA-65A6-882F-52B95EF17B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4094" y="1062551"/>
                <a:ext cx="11707906" cy="549592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10000"/>
                  </a:lnSpc>
                  <a:buFont typeface="Wingdings" pitchFamily="2" charset="2"/>
                  <a:buChar char="§"/>
                </a:pPr>
                <a:r>
                  <a:rPr lang="en-US" sz="2400" dirty="0"/>
                  <a:t>By suppressing magnetic field noise in the system, frequency instability can be further improved in </a:t>
                </a:r>
                <a:r>
                  <a:rPr lang="en-US" sz="2400" baseline="30000" dirty="0"/>
                  <a:t>40</a:t>
                </a:r>
                <a:r>
                  <a:rPr lang="en-US" sz="2400" dirty="0"/>
                  <a:t>Ca</a:t>
                </a:r>
                <a:r>
                  <a:rPr lang="en-US" sz="2400" baseline="30000" dirty="0"/>
                  <a:t>+ </a:t>
                </a:r>
                <a:r>
                  <a:rPr lang="en-US" sz="2400" dirty="0"/>
                  <a:t>optical clocks</a:t>
                </a:r>
              </a:p>
              <a:p>
                <a:pPr>
                  <a:lnSpc>
                    <a:spcPct val="110000"/>
                  </a:lnSpc>
                  <a:buFont typeface="Wingdings" pitchFamily="2" charset="2"/>
                  <a:buChar char="§"/>
                </a:pPr>
                <a:endParaRPr lang="en-US" sz="2400" dirty="0"/>
              </a:p>
              <a:p>
                <a:pPr lvl="1">
                  <a:lnSpc>
                    <a:spcPct val="110000"/>
                  </a:lnSpc>
                  <a:buFont typeface="Wingdings" pitchFamily="2" charset="2"/>
                  <a:buChar char="§"/>
                </a:pPr>
                <a:r>
                  <a:rPr lang="en-US" sz="2000" dirty="0"/>
                  <a:t>Achieved using a two-ion Bell state in a Decoherence-Free Subspace (DFS) immune to magnetic field fluctuations;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7.0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−16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den>
                            </m:f>
                          </m:e>
                        </m:rad>
                      </m:den>
                    </m:f>
                  </m:oMath>
                </a14:m>
                <a:r>
                  <a:rPr lang="en-US" sz="2000" dirty="0"/>
                  <a:t> is the outcome </a:t>
                </a:r>
              </a:p>
              <a:p>
                <a:pPr lvl="1">
                  <a:lnSpc>
                    <a:spcPct val="110000"/>
                  </a:lnSpc>
                  <a:buFont typeface="Wingdings" pitchFamily="2" charset="2"/>
                  <a:buChar char="§"/>
                </a:pPr>
                <a:endParaRPr lang="en-US" sz="2000" dirty="0"/>
              </a:p>
              <a:p>
                <a:pPr lvl="1">
                  <a:lnSpc>
                    <a:spcPct val="110000"/>
                  </a:lnSpc>
                  <a:buFont typeface="Wingdings" pitchFamily="2" charset="2"/>
                  <a:buChar char="§"/>
                </a:pPr>
                <a:r>
                  <a:rPr lang="en-US" sz="2000" dirty="0"/>
                  <a:t>Experimental data shows coherence time and frequency instability improvements over preceding, best performing </a:t>
                </a:r>
                <a:r>
                  <a:rPr lang="en-US" sz="2000" baseline="30000" dirty="0"/>
                  <a:t>40</a:t>
                </a:r>
                <a:r>
                  <a:rPr lang="en-US" sz="2000" dirty="0"/>
                  <a:t>Ca</a:t>
                </a:r>
                <a:r>
                  <a:rPr lang="en-US" sz="2000" baseline="30000" dirty="0"/>
                  <a:t>+</a:t>
                </a:r>
                <a:r>
                  <a:rPr lang="en-US" sz="2000" dirty="0"/>
                  <a:t> optical clock ([35] in letter)</a:t>
                </a:r>
              </a:p>
              <a:p>
                <a:pPr lvl="1">
                  <a:lnSpc>
                    <a:spcPct val="110000"/>
                  </a:lnSpc>
                  <a:buFont typeface="Wingdings" pitchFamily="2" charset="2"/>
                  <a:buChar char="§"/>
                </a:pPr>
                <a:endParaRPr lang="en-US" sz="2000" dirty="0"/>
              </a:p>
              <a:p>
                <a:pPr lvl="1">
                  <a:lnSpc>
                    <a:spcPct val="110000"/>
                  </a:lnSpc>
                  <a:buFont typeface="Wingdings" pitchFamily="2" charset="2"/>
                  <a:buChar char="§"/>
                </a:pPr>
                <a:r>
                  <a:rPr lang="en-US" sz="2000" dirty="0"/>
                  <a:t>This research and results helping drive towards redefining the </a:t>
                </a:r>
                <a:r>
                  <a:rPr lang="en-US" sz="2000" i="1" dirty="0"/>
                  <a:t>second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6B3F0A-ACFA-65A6-882F-52B95EF17B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4094" y="1062551"/>
                <a:ext cx="11707906" cy="5495928"/>
              </a:xfrm>
              <a:blipFill>
                <a:blip r:embed="rId3"/>
                <a:stretch>
                  <a:fillRect l="-649" t="-461" r="-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7242C-F80C-D105-86CA-47D7C9496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C3F52-F24C-494B-8A91-1BC5DDE3686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285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E9B3F-C7E7-193F-B192-5363D8B7A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79018-58BE-96E9-04E3-3661693FF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" y="365126"/>
            <a:ext cx="12160250" cy="573026"/>
          </a:xfrm>
        </p:spPr>
        <p:txBody>
          <a:bodyPr>
            <a:normAutofit fontScale="90000"/>
          </a:bodyPr>
          <a:lstStyle/>
          <a:p>
            <a:r>
              <a:rPr lang="en-US" dirty="0"/>
              <a:t>How to create entangled decoherent-free subspace (DFS)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22855-DB58-CFD7-9AB0-C09676AA7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" y="994288"/>
            <a:ext cx="12160250" cy="5454161"/>
          </a:xfrm>
        </p:spPr>
        <p:txBody>
          <a:bodyPr>
            <a:normAutofit/>
          </a:bodyPr>
          <a:lstStyle/>
          <a:p>
            <a:pPr lvl="1">
              <a:buFont typeface="Wingdings" pitchFamily="2" charset="2"/>
              <a:buChar char="§"/>
            </a:pPr>
            <a:r>
              <a:rPr lang="en-US" dirty="0"/>
              <a:t>Linear Paul-trap confines two </a:t>
            </a:r>
            <a:r>
              <a:rPr lang="en-US" baseline="30000" dirty="0"/>
              <a:t>40</a:t>
            </a:r>
            <a:r>
              <a:rPr lang="en-US" dirty="0"/>
              <a:t>Ca</a:t>
            </a:r>
            <a:r>
              <a:rPr lang="en-US" baseline="30000" dirty="0"/>
              <a:t>+ </a:t>
            </a:r>
            <a:r>
              <a:rPr lang="en-US" dirty="0"/>
              <a:t>ions</a:t>
            </a:r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 lvl="1">
              <a:buFont typeface="Wingdings" pitchFamily="2" charset="2"/>
              <a:buChar char="§"/>
            </a:pPr>
            <a:r>
              <a:rPr lang="en-US" dirty="0"/>
              <a:t>Pre-defined magnetic field applied axially to spectrally separate Zeeman states</a:t>
            </a:r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 lvl="1">
              <a:buFont typeface="Wingdings" pitchFamily="2" charset="2"/>
              <a:buChar char="§"/>
            </a:pPr>
            <a:r>
              <a:rPr lang="en-US" dirty="0"/>
              <a:t>Laser pulse(s) to manipulate trapped ions </a:t>
            </a:r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 lvl="1">
              <a:buFont typeface="Wingdings" pitchFamily="2" charset="2"/>
              <a:buChar char="§"/>
            </a:pPr>
            <a:r>
              <a:rPr lang="en-US" dirty="0"/>
              <a:t>This yields Bell state (two-ion entanglement!)</a:t>
            </a:r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 lvl="1">
              <a:buFont typeface="Wingdings" pitchFamily="2" charset="2"/>
              <a:buChar char="§"/>
            </a:pPr>
            <a:r>
              <a:rPr lang="en-US" dirty="0"/>
              <a:t>Each term of wavefunction experience equal and opposite Zeeman shift effects, making these states immune to first order magnetic field fluctuations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5F3E4E-4588-41A9-1D42-88B445F3414E}"/>
              </a:ext>
            </a:extLst>
          </p:cNvPr>
          <p:cNvSpPr txBox="1"/>
          <p:nvPr/>
        </p:nvSpPr>
        <p:spPr>
          <a:xfrm>
            <a:off x="11474499" y="7094502"/>
            <a:ext cx="3457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Figure x: Diagram of fountain atomic clock</a:t>
            </a:r>
          </a:p>
        </p:txBody>
      </p:sp>
      <p:pic>
        <p:nvPicPr>
          <p:cNvPr id="5145" name="Picture 25" descr="page9image38386304">
            <a:extLst>
              <a:ext uri="{FF2B5EF4-FFF2-40B4-BE49-F238E27FC236}">
                <a16:creationId xmlns:a16="http://schemas.microsoft.com/office/drawing/2014/main" id="{67D92F11-D26A-0599-B44D-20E1459C0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302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06FDD0-4357-4436-BD8E-C64BCD26D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C3F52-F24C-494B-8A91-1BC5DDE3686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168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434A6-37ED-1D02-009D-7EC0A8082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B5FC8-AD58-A9F7-9620-B25836FE9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3026"/>
          </a:xfrm>
        </p:spPr>
        <p:txBody>
          <a:bodyPr>
            <a:normAutofit fontScale="90000"/>
          </a:bodyPr>
          <a:lstStyle/>
          <a:p>
            <a:r>
              <a:rPr lang="en-US" dirty="0"/>
              <a:t>Starting with trapped 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201136-C593-CB66-DE5E-406667BE8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C3F52-F24C-494B-8A91-1BC5DDE36867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3CAC0-AC0F-59BA-EB59-54836234D99E}"/>
              </a:ext>
            </a:extLst>
          </p:cNvPr>
          <p:cNvSpPr txBox="1"/>
          <p:nvPr/>
        </p:nvSpPr>
        <p:spPr>
          <a:xfrm>
            <a:off x="2236259" y="5885403"/>
            <a:ext cx="2780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Resource-</a:t>
            </a:r>
            <a:r>
              <a:rPr lang="en-US" dirty="0">
                <a:hlinkClick r:id="rId2"/>
              </a:rPr>
              <a:t>Linear Paul Trap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CA47E1-3518-4FDB-A0B9-7744C6008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4183" y="1099527"/>
            <a:ext cx="4963633" cy="1899662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D978B58-3B12-04D9-7400-0CC534F7EA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7866890" y="3356313"/>
            <a:ext cx="3804557" cy="21305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BC23A4C-9D5C-9319-1A77-ACF6BFDFB0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553" y="3040603"/>
            <a:ext cx="6057900" cy="28448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26752D6-B26D-8848-2E73-DFBBC2F3530D}"/>
              </a:ext>
            </a:extLst>
          </p:cNvPr>
          <p:cNvSpPr txBox="1"/>
          <p:nvPr/>
        </p:nvSpPr>
        <p:spPr>
          <a:xfrm>
            <a:off x="8343420" y="5843989"/>
            <a:ext cx="3328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Figure 1a in letter-Level scheme</a:t>
            </a:r>
          </a:p>
        </p:txBody>
      </p:sp>
    </p:spTree>
    <p:extLst>
      <p:ext uri="{BB962C8B-B14F-4D97-AF65-F5344CB8AC3E}">
        <p14:creationId xmlns:p14="http://schemas.microsoft.com/office/powerpoint/2010/main" val="3366488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1DA92-1FA0-5FF0-78C2-48FFB5B13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FAEE1-A36C-5D8F-CB12-A78CC7F98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3026"/>
          </a:xfrm>
        </p:spPr>
        <p:txBody>
          <a:bodyPr>
            <a:normAutofit fontScale="90000"/>
          </a:bodyPr>
          <a:lstStyle/>
          <a:p>
            <a:r>
              <a:rPr lang="en-US" dirty="0"/>
              <a:t>Entangled decoherence-free subspace (</a:t>
            </a:r>
            <a:r>
              <a:rPr lang="en-US" dirty="0" err="1"/>
              <a:t>enDFS</a:t>
            </a:r>
            <a:r>
              <a:rPr lang="en-US" dirty="0"/>
              <a:t>)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07937-13FF-324C-78F3-5209DC1BD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738" y="1033153"/>
            <a:ext cx="12006261" cy="5688322"/>
          </a:xfrm>
        </p:spPr>
        <p:txBody>
          <a:bodyPr>
            <a:normAutofit/>
          </a:bodyPr>
          <a:lstStyle/>
          <a:p>
            <a:r>
              <a:rPr lang="en-US" dirty="0"/>
              <a:t>Starting with                       obtain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Coherence and superposition</a:t>
            </a:r>
          </a:p>
          <a:p>
            <a:r>
              <a:rPr lang="en-US" dirty="0"/>
              <a:t>Each term of superposition shifted by equal and opposite amounts, which is where first order magnetic immunity originates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7ED9FB-8709-2253-2FF3-0E59C91A6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C3F52-F24C-494B-8A91-1BC5DDE36867}" type="slidenum">
              <a:rPr lang="en-US" smtClean="0"/>
              <a:t>5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697D03-C583-1B16-BE55-058165231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009" y="1733408"/>
            <a:ext cx="5255437" cy="20437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F934129-60A4-7100-13E5-31EC64C94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3246" y="1495571"/>
            <a:ext cx="3403600" cy="37592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2F9AAC6-24A0-5BEF-9AE9-28A40874FC64}"/>
              </a:ext>
            </a:extLst>
          </p:cNvPr>
          <p:cNvSpPr txBox="1"/>
          <p:nvPr/>
        </p:nvSpPr>
        <p:spPr>
          <a:xfrm>
            <a:off x="8443507" y="5177763"/>
            <a:ext cx="2343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Reference  38 in letter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0DE20B9-B3BF-A120-E1AF-639F1AEE9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01" y="3843544"/>
            <a:ext cx="3797300" cy="9144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954A565-AC33-8B80-EE9E-5BAB7A6040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4828" y="1124662"/>
            <a:ext cx="1447800" cy="2794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5A149DD-038B-A887-102F-372A34F8D1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8722" y="1038371"/>
            <a:ext cx="28321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365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A8155-FE10-05ED-CA8F-1FCD543CF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3C0C4-1B7D-496E-3DB0-9B00C1D60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3026"/>
          </a:xfrm>
        </p:spPr>
        <p:txBody>
          <a:bodyPr>
            <a:normAutofit fontScale="90000"/>
          </a:bodyPr>
          <a:lstStyle/>
          <a:p>
            <a:r>
              <a:rPr lang="en-US" dirty="0"/>
              <a:t>Laser parameters during experimentation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A46E3-44CC-E2B7-A6BA-62EDFAB32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738" y="1033153"/>
            <a:ext cx="12006261" cy="5688322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90D60-87BB-F006-2159-75BED60F9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C3F52-F24C-494B-8A91-1BC5DDE36867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AC36A2-1DCC-3552-F22B-3052770BF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38" y="1498823"/>
            <a:ext cx="7772400" cy="40379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7869A34-B11B-1C03-C887-48FCAACBB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1455183"/>
            <a:ext cx="4114800" cy="32131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2868EB5-2328-FB96-A468-B6669AB769BB}"/>
              </a:ext>
            </a:extLst>
          </p:cNvPr>
          <p:cNvSpPr txBox="1"/>
          <p:nvPr/>
        </p:nvSpPr>
        <p:spPr>
          <a:xfrm>
            <a:off x="9196936" y="4890405"/>
            <a:ext cx="22141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30000" dirty="0"/>
              <a:t>40</a:t>
            </a:r>
            <a:r>
              <a:rPr lang="en-US" dirty="0"/>
              <a:t>Ca</a:t>
            </a:r>
            <a:r>
              <a:rPr lang="en-US" baseline="30000" dirty="0"/>
              <a:t>+</a:t>
            </a:r>
            <a:r>
              <a:rPr lang="en-US" dirty="0"/>
              <a:t> level scheme</a:t>
            </a:r>
          </a:p>
          <a:p>
            <a:r>
              <a:rPr lang="en-US" dirty="0"/>
              <a:t>Reference </a:t>
            </a:r>
            <a:r>
              <a:rPr lang="en-US" dirty="0">
                <a:hlinkClick r:id="rId4"/>
              </a:rPr>
              <a:t>Figure 2.1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476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B67F1-7EF0-8252-25EE-73A0A9B5E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028E1-2B94-8228-0A2C-F21576B51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0748963" cy="573026"/>
          </a:xfrm>
        </p:spPr>
        <p:txBody>
          <a:bodyPr>
            <a:normAutofit fontScale="90000"/>
          </a:bodyPr>
          <a:lstStyle/>
          <a:p>
            <a:r>
              <a:rPr lang="en-US" dirty="0"/>
              <a:t>Comparison-</a:t>
            </a:r>
            <a:r>
              <a:rPr lang="en-US" baseline="30000" dirty="0"/>
              <a:t>40</a:t>
            </a:r>
            <a:r>
              <a:rPr lang="en-US" dirty="0"/>
              <a:t>Ca</a:t>
            </a:r>
            <a:r>
              <a:rPr lang="en-US" baseline="30000" dirty="0"/>
              <a:t>+</a:t>
            </a:r>
            <a:r>
              <a:rPr lang="en-US" dirty="0"/>
              <a:t> ion clock to </a:t>
            </a:r>
            <a:r>
              <a:rPr lang="en-US" baseline="30000" dirty="0"/>
              <a:t>87</a:t>
            </a:r>
            <a:r>
              <a:rPr lang="en-US" dirty="0"/>
              <a:t>Sr lattice clock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46CF4-3AE4-3448-FE4A-2C396A444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" y="1153582"/>
            <a:ext cx="12160250" cy="5597541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19D8BE-AB52-23D1-8ADE-B222E1B8D631}"/>
              </a:ext>
            </a:extLst>
          </p:cNvPr>
          <p:cNvSpPr txBox="1"/>
          <p:nvPr/>
        </p:nvSpPr>
        <p:spPr>
          <a:xfrm>
            <a:off x="11474499" y="7094502"/>
            <a:ext cx="3457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Figure x: Diagram of fountain atomic clock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0E88A4-B81E-7EBA-472F-FE77EB300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C3F52-F24C-494B-8A91-1BC5DDE36867}" type="slidenum">
              <a:rPr lang="en-US" smtClean="0"/>
              <a:t>7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6F72106-C3F0-0143-CE6D-852F5FC6E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413" y="953403"/>
            <a:ext cx="7772400" cy="4602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966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7A738-77EA-BBC1-C6BF-5367F4ECB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BCB8B-477F-A127-42FD-6C702999B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0748963" cy="573026"/>
          </a:xfrm>
        </p:spPr>
        <p:txBody>
          <a:bodyPr>
            <a:normAutofit fontScale="90000"/>
          </a:bodyPr>
          <a:lstStyle/>
          <a:p>
            <a:r>
              <a:rPr lang="en-US" dirty="0"/>
              <a:t>Coherence time for different probe schemes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5122C-BBB4-56F3-9C8D-E3E012432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" y="1153582"/>
            <a:ext cx="12160250" cy="5597541"/>
          </a:xfrm>
        </p:spPr>
        <p:txBody>
          <a:bodyPr>
            <a:normAutofit/>
          </a:bodyPr>
          <a:lstStyle/>
          <a:p>
            <a:pPr lvl="1">
              <a:buFont typeface="Wingdings" pitchFamily="2" charset="2"/>
              <a:buChar char="§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74A788-DB78-3487-1A65-B35F4911A4ED}"/>
              </a:ext>
            </a:extLst>
          </p:cNvPr>
          <p:cNvSpPr txBox="1"/>
          <p:nvPr/>
        </p:nvSpPr>
        <p:spPr>
          <a:xfrm>
            <a:off x="11474499" y="7094502"/>
            <a:ext cx="3457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Figure x: Diagram of fountain atomic clock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78A133-E5AC-D30E-20F0-402DF8C77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C3F52-F24C-494B-8A91-1BC5DDE36867}" type="slidenum">
              <a:rPr lang="en-US" smtClean="0"/>
              <a:t>8</a:t>
            </a:fld>
            <a:endParaRPr lang="en-US"/>
          </a:p>
        </p:txBody>
      </p:sp>
      <p:pic>
        <p:nvPicPr>
          <p:cNvPr id="11" name="Picture 10" descr="A diagram of a function&#10;&#10;Description automatically generated">
            <a:extLst>
              <a:ext uri="{FF2B5EF4-FFF2-40B4-BE49-F238E27FC236}">
                <a16:creationId xmlns:a16="http://schemas.microsoft.com/office/drawing/2014/main" id="{21FA16A5-C3DD-BAA0-47EF-74255D4C3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995" y="2364852"/>
            <a:ext cx="3835400" cy="3175000"/>
          </a:xfrm>
          <a:prstGeom prst="rect">
            <a:avLst/>
          </a:prstGeom>
        </p:spPr>
      </p:pic>
      <p:pic>
        <p:nvPicPr>
          <p:cNvPr id="13" name="Picture 12" descr="A text on a white background&#10;&#10;Description automatically generated">
            <a:extLst>
              <a:ext uri="{FF2B5EF4-FFF2-40B4-BE49-F238E27FC236}">
                <a16:creationId xmlns:a16="http://schemas.microsoft.com/office/drawing/2014/main" id="{D843495A-8F11-6F0E-2166-BDF164CE3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9542" y="2662766"/>
            <a:ext cx="3924300" cy="218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370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56137-4E5B-325B-FF5E-CBEBD1D57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1C9DF-C70D-4584-7BCF-E3825C7DF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014" y="370434"/>
            <a:ext cx="10765971" cy="573026"/>
          </a:xfrm>
        </p:spPr>
        <p:txBody>
          <a:bodyPr>
            <a:normAutofit fontScale="90000"/>
          </a:bodyPr>
          <a:lstStyle/>
          <a:p>
            <a:r>
              <a:rPr lang="en-US" dirty="0"/>
              <a:t>Comparison to </a:t>
            </a:r>
            <a:r>
              <a:rPr lang="en-US" baseline="30000" dirty="0"/>
              <a:t>87</a:t>
            </a:r>
            <a:r>
              <a:rPr lang="en-US" dirty="0"/>
              <a:t>Sr lattice clock-Fractional stability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F7A54-4C8F-F7F6-B890-14772420E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3153"/>
            <a:ext cx="10515600" cy="5143810"/>
          </a:xfrm>
        </p:spPr>
        <p:txBody>
          <a:bodyPr/>
          <a:lstStyle/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B8665-EC3A-BD05-462C-68F9F3121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C3F52-F24C-494B-8A91-1BC5DDE36867}" type="slidenum">
              <a:rPr lang="en-US" smtClean="0"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FCAA50-FE98-1241-72DC-74BE1E764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2552" y="1033153"/>
            <a:ext cx="4208297" cy="5534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219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B4553-40CA-F578-3A99-F48325FC0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A2027-CF91-8835-D660-5CD6506DF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014" y="370434"/>
            <a:ext cx="10765971" cy="573026"/>
          </a:xfrm>
        </p:spPr>
        <p:txBody>
          <a:bodyPr>
            <a:normAutofit fontScale="90000"/>
          </a:bodyPr>
          <a:lstStyle/>
          <a:p>
            <a:r>
              <a:rPr lang="en-US" dirty="0"/>
              <a:t>Comparison to </a:t>
            </a:r>
            <a:r>
              <a:rPr lang="en-US" baseline="30000" dirty="0"/>
              <a:t>87</a:t>
            </a:r>
            <a:r>
              <a:rPr lang="en-US" dirty="0"/>
              <a:t>Sr lattice clock-Measured/Theoretical instabilities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D91272-4CDC-896C-871D-F4D5E1BB9E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81503"/>
                <a:ext cx="10515600" cy="4395460"/>
              </a:xfrm>
            </p:spPr>
            <p:txBody>
              <a:bodyPr/>
              <a:lstStyle/>
              <a:p>
                <a:pPr lvl="1">
                  <a:buFont typeface="Wingdings" pitchFamily="2" charset="2"/>
                  <a:buChar char="§"/>
                </a:pPr>
                <a:r>
                  <a:rPr lang="en-US" dirty="0"/>
                  <a:t>We see the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7.0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−16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den>
                            </m:f>
                          </m:e>
                        </m:rad>
                      </m:den>
                    </m:f>
                  </m:oMath>
                </a14:m>
                <a:r>
                  <a:rPr lang="en-US" sz="2400" dirty="0"/>
                  <a:t> frequency instability at 250ms probe time claimed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D91272-4CDC-896C-871D-F4D5E1BB9E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81503"/>
                <a:ext cx="10515600" cy="439546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006DEF-B6E1-BD05-EFC7-4F44741EA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C3F52-F24C-494B-8A91-1BC5DDE36867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1D9D5C-F34A-9608-5D90-89C50A205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127" y="2654427"/>
            <a:ext cx="4025900" cy="3365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ED286A-0DBB-331D-4F1F-DFD8DFCDBB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6230" y="3556127"/>
            <a:ext cx="3924300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116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AD3BE-2DA8-3776-371A-AE1D483BB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03A18-0947-902A-003D-01184E5D1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014" y="370434"/>
            <a:ext cx="10765971" cy="573026"/>
          </a:xfrm>
        </p:spPr>
        <p:txBody>
          <a:bodyPr>
            <a:normAutofit fontScale="90000"/>
          </a:bodyPr>
          <a:lstStyle/>
          <a:p>
            <a:r>
              <a:rPr lang="en-US" dirty="0"/>
              <a:t>Quantum Projection Noise and Noise Figure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09E19-454E-1543-19F6-4D1B3BC5A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1503"/>
            <a:ext cx="10515600" cy="4395460"/>
          </a:xfrm>
        </p:spPr>
        <p:txBody>
          <a:bodyPr/>
          <a:lstStyle/>
          <a:p>
            <a:pPr lvl="1">
              <a:buFont typeface="Wingdings" pitchFamily="2" charset="2"/>
              <a:buChar char="§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78A1AB-BFE2-5E14-DE93-E890C14D4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C3F52-F24C-494B-8A91-1BC5DDE36867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F9C973-8847-C395-1C52-42DA73AC7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248" y="943460"/>
            <a:ext cx="4089400" cy="581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792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57DB5-3B96-60DB-BB7C-8E58ACDA5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2D70C-BAAE-003D-12A3-E4746CCDB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014" y="370434"/>
            <a:ext cx="10765971" cy="573026"/>
          </a:xfrm>
        </p:spPr>
        <p:txBody>
          <a:bodyPr>
            <a:normAutofit fontScale="90000"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13E69-0EAE-B8AB-0E3A-46305D45F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3153"/>
            <a:ext cx="10515600" cy="5143810"/>
          </a:xfrm>
        </p:spPr>
        <p:txBody>
          <a:bodyPr/>
          <a:lstStyle/>
          <a:p>
            <a:r>
              <a:rPr lang="en-US" dirty="0"/>
              <a:t>Magnetic field insensitivity due to the decoherence-free subspace enables near lifetime-limited probe times, and lower instability </a:t>
            </a:r>
          </a:p>
          <a:p>
            <a:endParaRPr lang="en-US" dirty="0"/>
          </a:p>
          <a:p>
            <a:r>
              <a:rPr lang="en-US" dirty="0"/>
              <a:t>Instabilities below the Quantum Projection Noise are observed for probe times under 100ms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257778-F5B9-351B-B821-A4C1560B8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C3F52-F24C-494B-8A91-1BC5DDE3686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324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400D6-1DCC-AC83-49CD-5AB75763C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81D22-DD81-0E2B-45D2-E75A897F0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014" y="370434"/>
            <a:ext cx="10765971" cy="573026"/>
          </a:xfrm>
        </p:spPr>
        <p:txBody>
          <a:bodyPr>
            <a:normAutofit fontScale="90000"/>
          </a:bodyPr>
          <a:lstStyle/>
          <a:p>
            <a:r>
              <a:rPr lang="en-US" dirty="0"/>
              <a:t>What’s next?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4BD42-60FF-0D8C-94DE-9A94E4A9D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3153"/>
            <a:ext cx="10515600" cy="5143810"/>
          </a:xfrm>
        </p:spPr>
        <p:txBody>
          <a:bodyPr/>
          <a:lstStyle/>
          <a:p>
            <a:r>
              <a:rPr lang="en-US" dirty="0"/>
              <a:t>Trying similar methods outlined in this paper with different ion candidates to see who responds the best</a:t>
            </a:r>
          </a:p>
          <a:p>
            <a:endParaRPr lang="en-US" dirty="0"/>
          </a:p>
          <a:p>
            <a:r>
              <a:rPr lang="en-US" dirty="0"/>
              <a:t>Improvements can still be made to the </a:t>
            </a:r>
            <a:r>
              <a:rPr lang="en-US" baseline="30000" dirty="0"/>
              <a:t>40</a:t>
            </a:r>
            <a:r>
              <a:rPr lang="en-US" dirty="0"/>
              <a:t>Ca</a:t>
            </a:r>
            <a:r>
              <a:rPr lang="en-US" baseline="30000" dirty="0"/>
              <a:t>+</a:t>
            </a:r>
            <a:r>
              <a:rPr lang="en-US" dirty="0"/>
              <a:t> optical ion clock by scaling and mitigating systematic shifts with dynamical decoupling or more complex DFS states</a:t>
            </a:r>
          </a:p>
          <a:p>
            <a:endParaRPr lang="en-US" dirty="0"/>
          </a:p>
          <a:p>
            <a:r>
              <a:rPr lang="en-US" dirty="0"/>
              <a:t>Once the best candidate is found, new methods to scale down for commercial use can be started to make systems smaller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D18F5B-FA1C-9D54-EB46-8CF64DC88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C3F52-F24C-494B-8A91-1BC5DDE3686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39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AE75B-DADE-A109-EC27-579C5BF48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 A</a:t>
            </a:r>
          </a:p>
        </p:txBody>
      </p:sp>
      <p:pic>
        <p:nvPicPr>
          <p:cNvPr id="6" name="Content Placeholder 5" descr="A text on a page&#10;&#10;Description automatically generated">
            <a:extLst>
              <a:ext uri="{FF2B5EF4-FFF2-40B4-BE49-F238E27FC236}">
                <a16:creationId xmlns:a16="http://schemas.microsoft.com/office/drawing/2014/main" id="{ED1744CC-32C5-5AFA-2E72-59CCE9477C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87650" y="1988344"/>
            <a:ext cx="6616700" cy="40259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87E114-637C-3435-532E-D1459A62E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C3F52-F24C-494B-8A91-1BC5DDE36867}" type="slidenum">
              <a:rPr lang="en-US" smtClean="0"/>
              <a:t>14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6896C0-95A9-5211-C1D0-C6FF35FE1C6F}"/>
              </a:ext>
            </a:extLst>
          </p:cNvPr>
          <p:cNvSpPr txBox="1"/>
          <p:nvPr/>
        </p:nvSpPr>
        <p:spPr>
          <a:xfrm>
            <a:off x="4403188" y="1448972"/>
            <a:ext cx="1879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Reference </a:t>
            </a:r>
            <a:r>
              <a:rPr lang="en-US" dirty="0">
                <a:hlinkClick r:id="rId3"/>
              </a:rPr>
              <a:t>article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4787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5DE04-D85A-DB0E-21C6-3596B1BAB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0536C-EB6E-2706-8643-7AAB72CF2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3026"/>
          </a:xfrm>
        </p:spPr>
        <p:txBody>
          <a:bodyPr>
            <a:normAutofit fontScale="90000"/>
          </a:bodyPr>
          <a:lstStyle/>
          <a:p>
            <a:r>
              <a:rPr lang="en-US" dirty="0"/>
              <a:t>Appendix: B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1EB01-1344-879C-7DE8-1904929DD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3153"/>
            <a:ext cx="10515600" cy="556952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1700" dirty="0"/>
              <a:t>Dr. Harold Lyons patent 2,699,503 - </a:t>
            </a:r>
            <a:r>
              <a:rPr lang="en-US" sz="1700" dirty="0">
                <a:hlinkClick r:id="rId2"/>
              </a:rPr>
              <a:t>https://ethw.org/w/images/a/a1/US_Patent_2699503.pdf</a:t>
            </a:r>
            <a:endParaRPr lang="en-US" sz="1700" dirty="0"/>
          </a:p>
          <a:p>
            <a:pPr>
              <a:buFont typeface="Wingdings" pitchFamily="2" charset="2"/>
              <a:buChar char="§"/>
            </a:pPr>
            <a:r>
              <a:rPr lang="en-US" sz="1700" dirty="0"/>
              <a:t>Figure B </a:t>
            </a:r>
            <a:r>
              <a:rPr lang="en-US" sz="1700" dirty="0">
                <a:hlinkClick r:id="rId3"/>
              </a:rPr>
              <a:t>https://ethw.org/Milestones:First_Atomic_Clock,_1948</a:t>
            </a:r>
            <a:endParaRPr lang="en-US" sz="1700" dirty="0"/>
          </a:p>
          <a:p>
            <a:pPr>
              <a:buFont typeface="Wingdings" pitchFamily="2" charset="2"/>
              <a:buChar char="§"/>
            </a:pPr>
            <a:r>
              <a:rPr lang="en-US" sz="1700" dirty="0"/>
              <a:t>Figure A </a:t>
            </a:r>
            <a:r>
              <a:rPr lang="en-US" sz="1700" dirty="0">
                <a:hlinkClick r:id="rId4"/>
              </a:rPr>
              <a:t>https://www.cabinet.ox.ac.uk/astronomical-clock-su-song-1020-1101</a:t>
            </a:r>
            <a:r>
              <a:rPr lang="en-US" sz="1700" dirty="0"/>
              <a:t> </a:t>
            </a:r>
          </a:p>
          <a:p>
            <a:pPr>
              <a:buFont typeface="Wingdings" pitchFamily="2" charset="2"/>
              <a:buChar char="§"/>
            </a:pPr>
            <a:r>
              <a:rPr lang="en-US" sz="1700" dirty="0"/>
              <a:t>Figure C </a:t>
            </a:r>
            <a:r>
              <a:rPr lang="en-US" sz="1700" dirty="0">
                <a:hlinkClick r:id="rId5"/>
              </a:rPr>
              <a:t>https://www.nist.gov/pml/time-and-frequency-division/time-realization/cesium-fountain-atomic-clocks</a:t>
            </a:r>
            <a:endParaRPr lang="en-US" sz="1700" dirty="0"/>
          </a:p>
          <a:p>
            <a:pPr>
              <a:buFont typeface="Wingdings" pitchFamily="2" charset="2"/>
              <a:buChar char="§"/>
            </a:pPr>
            <a:r>
              <a:rPr lang="en-US" sz="1700" dirty="0"/>
              <a:t>Figure D </a:t>
            </a:r>
            <a:r>
              <a:rPr lang="en-US" sz="1700" dirty="0">
                <a:hlinkClick r:id="rId6"/>
              </a:rPr>
              <a:t>https://www.nist.gov/atomic-clocks/how-atomic-clocks-work/optical-clocks-future-time</a:t>
            </a:r>
            <a:r>
              <a:rPr lang="en-US" sz="1700" dirty="0"/>
              <a:t> </a:t>
            </a:r>
            <a:endParaRPr lang="en-US" sz="1700" dirty="0">
              <a:effectLst/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1700" dirty="0">
                <a:effectLst/>
                <a:latin typeface="Times New Roman" panose="02020603050405020304" pitchFamily="18" charset="0"/>
              </a:rPr>
              <a:t>Lombardi, M. A. &amp; United States Government. (2012). The Evolution of Time Measurement, Part 4: The Atomic Second. In </a:t>
            </a:r>
            <a:r>
              <a:rPr lang="en-US" sz="1700" i="1" dirty="0">
                <a:effectLst/>
                <a:latin typeface="Times New Roman" panose="02020603050405020304" pitchFamily="18" charset="0"/>
              </a:rPr>
              <a:t>IEEE Instrumentation &amp; Measurement Magazine</a:t>
            </a:r>
            <a:r>
              <a:rPr lang="en-US" sz="1700" dirty="0">
                <a:effectLst/>
                <a:latin typeface="Times New Roman" panose="02020603050405020304" pitchFamily="18" charset="0"/>
              </a:rPr>
              <a:t> (Vol. 47, Issue February, pp. 47–48) [Journal-article]. </a:t>
            </a:r>
            <a:r>
              <a:rPr lang="en-US" sz="1700" dirty="0">
                <a:effectLst/>
                <a:latin typeface="Times New Roman" panose="02020603050405020304" pitchFamily="18" charset="0"/>
                <a:hlinkClick r:id="rId7"/>
              </a:rPr>
              <a:t>https://tf.nist.gov/general/pdf/2585.pdf</a:t>
            </a:r>
            <a:r>
              <a:rPr lang="en-US" sz="1700" dirty="0">
                <a:effectLst/>
                <a:latin typeface="Times New Roman" panose="02020603050405020304" pitchFamily="18" charset="0"/>
              </a:rPr>
              <a:t>  </a:t>
            </a:r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1700" b="0" dirty="0">
                <a:solidFill>
                  <a:srgbClr val="05103E"/>
                </a:solidFill>
                <a:effectLst/>
                <a:latin typeface="Times New Roman" panose="02020603050405020304" pitchFamily="18" charset="0"/>
              </a:rPr>
              <a:t>Hecht, Jeff. (2023). </a:t>
            </a:r>
            <a:r>
              <a:rPr lang="en-US" sz="1700" b="0" i="1" dirty="0">
                <a:solidFill>
                  <a:srgbClr val="05103E"/>
                </a:solidFill>
                <a:effectLst/>
                <a:latin typeface="Times New Roman" panose="02020603050405020304" pitchFamily="18" charset="0"/>
              </a:rPr>
              <a:t>Louis Essen: Time lord of precision atomic clocks</a:t>
            </a:r>
            <a:r>
              <a:rPr lang="en-US" sz="1700" b="0" i="0" dirty="0">
                <a:solidFill>
                  <a:srgbClr val="05103E"/>
                </a:solidFill>
                <a:effectLst/>
                <a:latin typeface="Times New Roman" panose="02020603050405020304" pitchFamily="18" charset="0"/>
              </a:rPr>
              <a:t>. </a:t>
            </a:r>
            <a:r>
              <a:rPr lang="en-US" sz="1700" b="0" i="0" dirty="0">
                <a:solidFill>
                  <a:srgbClr val="05103E"/>
                </a:solidFill>
                <a:effectLst/>
                <a:latin typeface="Times New Roman" panose="02020603050405020304" pitchFamily="18" charset="0"/>
                <a:hlinkClick r:id="rId8"/>
              </a:rPr>
              <a:t>https://spie.org/news/photonics-focus/marapr-2023/inventing-precision-atomic-clocks </a:t>
            </a:r>
            <a:endParaRPr lang="en-US" sz="1700" dirty="0">
              <a:solidFill>
                <a:srgbClr val="05103E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1700" b="0" dirty="0">
                <a:solidFill>
                  <a:srgbClr val="05103E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sz="1700" b="0" i="1" dirty="0">
                <a:solidFill>
                  <a:srgbClr val="05103E"/>
                </a:solidFill>
                <a:effectLst/>
                <a:latin typeface="Times New Roman" panose="02020603050405020304" pitchFamily="18" charset="0"/>
              </a:rPr>
              <a:t>Second: the past | NIST</a:t>
            </a:r>
            <a:r>
              <a:rPr lang="en-US" sz="1700" b="0" i="0" dirty="0">
                <a:solidFill>
                  <a:srgbClr val="05103E"/>
                </a:solidFill>
                <a:effectLst/>
                <a:latin typeface="Times New Roman" panose="02020603050405020304" pitchFamily="18" charset="0"/>
              </a:rPr>
              <a:t>. (2023, September 25). NIST. </a:t>
            </a:r>
            <a:r>
              <a:rPr lang="en-US" sz="1700" b="0" i="0" dirty="0">
                <a:solidFill>
                  <a:srgbClr val="05103E"/>
                </a:solidFill>
                <a:effectLst/>
                <a:latin typeface="Times New Roman" panose="02020603050405020304" pitchFamily="18" charset="0"/>
                <a:hlinkClick r:id="rId9"/>
              </a:rPr>
              <a:t>https://www.nist.gov/si-redefinition/second-past</a:t>
            </a:r>
            <a:endParaRPr lang="en-US" sz="1700" b="0" i="0" dirty="0">
              <a:solidFill>
                <a:srgbClr val="05103E"/>
              </a:solidFill>
              <a:effectLst/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1700" b="0" i="0" dirty="0">
                <a:solidFill>
                  <a:srgbClr val="05103E"/>
                </a:solidFill>
                <a:effectLst/>
                <a:latin typeface="Times New Roman" panose="02020603050405020304" pitchFamily="18" charset="0"/>
              </a:rPr>
              <a:t>Lyons, H. &amp; National Bureau of Standards. (1950). The Atomic Clock. In </a:t>
            </a:r>
            <a:r>
              <a:rPr lang="en-US" sz="1700" b="0" i="1" dirty="0">
                <a:solidFill>
                  <a:srgbClr val="05103E"/>
                </a:solidFill>
                <a:effectLst/>
                <a:latin typeface="Times New Roman" panose="02020603050405020304" pitchFamily="18" charset="0"/>
              </a:rPr>
              <a:t>American Scholar</a:t>
            </a:r>
            <a:r>
              <a:rPr lang="en-US" sz="1700" b="0" i="0" dirty="0">
                <a:solidFill>
                  <a:srgbClr val="05103E"/>
                </a:solidFill>
                <a:effectLst/>
                <a:latin typeface="Times New Roman" panose="02020603050405020304" pitchFamily="18" charset="0"/>
              </a:rPr>
              <a:t> (Vol. 19, pp. 159–168). </a:t>
            </a:r>
            <a:r>
              <a:rPr lang="en-US" sz="1700" b="0" i="0" dirty="0">
                <a:solidFill>
                  <a:srgbClr val="05103E"/>
                </a:solidFill>
                <a:effectLst/>
                <a:latin typeface="Times New Roman" panose="02020603050405020304" pitchFamily="18" charset="0"/>
                <a:hlinkClick r:id="rId10"/>
              </a:rPr>
              <a:t>https://ieeemilestones.ethw.org/w/images/5/57/Lyons_American_Scholar_1950.pdf</a:t>
            </a:r>
            <a:endParaRPr lang="en-US" sz="1700" b="0" i="0" dirty="0">
              <a:solidFill>
                <a:srgbClr val="05103E"/>
              </a:solidFill>
              <a:effectLst/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1700" dirty="0">
                <a:effectLst/>
                <a:latin typeface="Times New Roman" panose="02020603050405020304" pitchFamily="18" charset="0"/>
              </a:rPr>
              <a:t>Lyons, H. (n.d.). </a:t>
            </a:r>
            <a:r>
              <a:rPr lang="en-US" sz="1700" i="1" dirty="0">
                <a:effectLst/>
                <a:latin typeface="Times New Roman" panose="02020603050405020304" pitchFamily="18" charset="0"/>
              </a:rPr>
              <a:t>ATOMIC CLOCKS</a:t>
            </a:r>
            <a:r>
              <a:rPr lang="en-US" sz="1700" dirty="0">
                <a:effectLst/>
                <a:latin typeface="Times New Roman" panose="02020603050405020304" pitchFamily="18" charset="0"/>
              </a:rPr>
              <a:t>. </a:t>
            </a:r>
            <a:r>
              <a:rPr lang="en-US" sz="1700" dirty="0">
                <a:effectLst/>
                <a:latin typeface="Times New Roman" panose="02020603050405020304" pitchFamily="18" charset="0"/>
                <a:hlinkClick r:id="rId11"/>
              </a:rPr>
              <a:t>https://ethw.org/w/images/c/c9/Lyons_Scientific_American_1957.pdf</a:t>
            </a:r>
            <a:endParaRPr lang="en-US" sz="1700" dirty="0">
              <a:effectLst/>
              <a:latin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700" dirty="0">
              <a:effectLst/>
              <a:latin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5E597-7A5B-D655-8BE1-B18EB5EC0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C3F52-F24C-494B-8A91-1BC5DDE3686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281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13152</TotalTime>
  <Words>900</Words>
  <Application>Microsoft Macintosh PowerPoint</Application>
  <PresentationFormat>Widescreen</PresentationFormat>
  <Paragraphs>122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Times New Roman</vt:lpstr>
      <vt:lpstr>Wingdings</vt:lpstr>
      <vt:lpstr>Office Theme</vt:lpstr>
      <vt:lpstr>Entanglement-enhanced optical ion clock</vt:lpstr>
      <vt:lpstr>Introduction-time</vt:lpstr>
      <vt:lpstr>Introduction-purpose</vt:lpstr>
      <vt:lpstr>How to create entangled decoherent-free subspace (DFS)</vt:lpstr>
      <vt:lpstr>Starting with trapped ions</vt:lpstr>
      <vt:lpstr>Entangled decoherence-free subspace (enDFS)</vt:lpstr>
      <vt:lpstr>Laser parameters during experimentation</vt:lpstr>
      <vt:lpstr>Comparison-40Ca+ ion clock to 87Sr lattice clock</vt:lpstr>
      <vt:lpstr>Coherence time for different probe schemes</vt:lpstr>
      <vt:lpstr>Comparison to 87Sr lattice clock-Fractional stability</vt:lpstr>
      <vt:lpstr>Comparison to 87Sr lattice clock-Measured/Theoretical instabilities</vt:lpstr>
      <vt:lpstr>Quantum Projection Noise and Noise Figure</vt:lpstr>
      <vt:lpstr>Conclusion</vt:lpstr>
      <vt:lpstr>What’s next?</vt:lpstr>
      <vt:lpstr>Appendix A</vt:lpstr>
      <vt:lpstr>Appendix: 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Lemus, Christopher</dc:creator>
  <cp:lastModifiedBy>Lemus, Christopher</cp:lastModifiedBy>
  <cp:revision>214</cp:revision>
  <dcterms:created xsi:type="dcterms:W3CDTF">2025-11-24T01:00:11Z</dcterms:created>
  <dcterms:modified xsi:type="dcterms:W3CDTF">2025-12-08T02:24:06Z</dcterms:modified>
</cp:coreProperties>
</file>